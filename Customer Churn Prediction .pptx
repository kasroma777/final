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Merriweath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Merriweather-bold.fntdata"/><Relationship Id="rId10" Type="http://schemas.openxmlformats.org/officeDocument/2006/relationships/slide" Target="slides/slide5.xml"/><Relationship Id="rId21" Type="http://schemas.openxmlformats.org/officeDocument/2006/relationships/font" Target="fonts/Merriweather-regular.fntdata"/><Relationship Id="rId13" Type="http://schemas.openxmlformats.org/officeDocument/2006/relationships/slide" Target="slides/slide8.xml"/><Relationship Id="rId24" Type="http://schemas.openxmlformats.org/officeDocument/2006/relationships/font" Target="fonts/Merriweather-boldItalic.fntdata"/><Relationship Id="rId12" Type="http://schemas.openxmlformats.org/officeDocument/2006/relationships/slide" Target="slides/slide7.xml"/><Relationship Id="rId23" Type="http://schemas.openxmlformats.org/officeDocument/2006/relationships/font" Target="fonts/Merriweath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0d587d01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0d587d01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0d587d01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0d587d01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0d587d01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0d587d01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0d587d01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0d587d01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0d587d014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0d587d014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0d587d01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0d587d01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0d587d01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0d587d01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0d587d01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0d587d01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0d587d01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0d587d01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0e40b1ef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0e40b1ef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Customer Churn Prediction Using the IBM Telco Dataset</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Ksenia Romanova and Shamma Alhosani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Churn Matters</a:t>
            </a:r>
            <a:endParaRPr/>
          </a:p>
        </p:txBody>
      </p:sp>
      <p:sp>
        <p:nvSpPr>
          <p:cNvPr id="71" name="Google Shape;71;p14"/>
          <p:cNvSpPr txBox="1"/>
          <p:nvPr>
            <p:ph idx="1" type="body"/>
          </p:nvPr>
        </p:nvSpPr>
        <p:spPr>
          <a:xfrm>
            <a:off x="1246050" y="1743450"/>
            <a:ext cx="66519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solidFill>
                  <a:schemeClr val="lt1"/>
                </a:solidFill>
              </a:rPr>
              <a:t>Customer churn, or when customers cancel a service, is a big issue for subscription-based companies. Since keeping existing customers is much cheaper than finding new ones, companies really benefit from knowing who is most likely to leave.</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Goal</a:t>
            </a:r>
            <a:endParaRPr/>
          </a:p>
        </p:txBody>
      </p:sp>
      <p:sp>
        <p:nvSpPr>
          <p:cNvPr id="77" name="Google Shape;77;p15"/>
          <p:cNvSpPr txBox="1"/>
          <p:nvPr>
            <p:ph idx="1" type="body"/>
          </p:nvPr>
        </p:nvSpPr>
        <p:spPr>
          <a:xfrm>
            <a:off x="1330650" y="1731400"/>
            <a:ext cx="64827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chemeClr val="lt1"/>
                </a:solidFill>
              </a:rPr>
              <a:t>The main goal of this project was to build a model that predicts the probability that a customer will churn.</a:t>
            </a:r>
            <a:endParaRPr>
              <a:solidFill>
                <a:schemeClr val="lt1"/>
              </a:solidFill>
            </a:endParaRPr>
          </a:p>
          <a:p>
            <a:pPr indent="0" lvl="0" marL="0" rtl="0" algn="l">
              <a:lnSpc>
                <a:spcPct val="150000"/>
              </a:lnSpc>
              <a:spcBef>
                <a:spcPts val="1200"/>
              </a:spcBef>
              <a:spcAft>
                <a:spcPts val="0"/>
              </a:spcAft>
              <a:buNone/>
            </a:pPr>
            <a:r>
              <a:rPr lang="en">
                <a:solidFill>
                  <a:schemeClr val="lt1"/>
                </a:solidFill>
              </a:rPr>
              <a:t>Instead of just asking “will this customer churn or not,” the focus was on estimating risk, since churn models are usually used to decide who to reach out to, not to make perfect predictions.</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Dataset</a:t>
            </a:r>
            <a:endParaRPr/>
          </a:p>
        </p:txBody>
      </p:sp>
      <p:sp>
        <p:nvSpPr>
          <p:cNvPr id="83" name="Google Shape;83;p16"/>
          <p:cNvSpPr txBox="1"/>
          <p:nvPr>
            <p:ph idx="1" type="body"/>
          </p:nvPr>
        </p:nvSpPr>
        <p:spPr>
          <a:xfrm>
            <a:off x="1131450" y="1200600"/>
            <a:ext cx="6881100" cy="40986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1200"/>
              </a:spcBef>
              <a:spcAft>
                <a:spcPts val="0"/>
              </a:spcAft>
              <a:buClr>
                <a:schemeClr val="lt1"/>
              </a:buClr>
              <a:buSzPts val="1100"/>
              <a:buFont typeface="Arial"/>
              <a:buChar char="●"/>
            </a:pPr>
            <a:r>
              <a:rPr lang="en">
                <a:solidFill>
                  <a:schemeClr val="lt1"/>
                </a:solidFill>
              </a:rPr>
              <a:t>IBM Telco Customer Churn dataset</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7,043 customers</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Target variable: Churn (1 = churned, 0 = stayed)</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Features include customer demographics, services, billing, and contract details</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About 26.5% of customers in the dataset churned</a:t>
            </a:r>
            <a:endParaRPr>
              <a:solidFill>
                <a:schemeClr val="lt1"/>
              </a:solidFill>
            </a:endParaRPr>
          </a:p>
          <a:p>
            <a:pPr indent="0" lvl="0" marL="0" rtl="0" algn="l">
              <a:lnSpc>
                <a:spcPct val="150000"/>
              </a:lnSpc>
              <a:spcBef>
                <a:spcPts val="1200"/>
              </a:spcBef>
              <a:spcAft>
                <a:spcPts val="0"/>
              </a:spcAft>
              <a:buNone/>
            </a:pPr>
            <a:r>
              <a:rPr lang="en">
                <a:solidFill>
                  <a:schemeClr val="lt1"/>
                </a:solidFill>
              </a:rPr>
              <a:t>Each row represents one customer.</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 name="Shape 87"/>
        <p:cNvGrpSpPr/>
        <p:nvPr/>
      </p:nvGrpSpPr>
      <p:grpSpPr>
        <a:xfrm>
          <a:off x="0" y="0"/>
          <a:ext cx="0" cy="0"/>
          <a:chOff x="0" y="0"/>
          <a:chExt cx="0" cy="0"/>
        </a:xfrm>
      </p:grpSpPr>
      <p:sp>
        <p:nvSpPr>
          <p:cNvPr id="88" name="Google Shape;88;p17"/>
          <p:cNvSpPr txBox="1"/>
          <p:nvPr>
            <p:ph type="title"/>
          </p:nvPr>
        </p:nvSpPr>
        <p:spPr>
          <a:xfrm>
            <a:off x="323800" y="3320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Cleaning &amp; Setup</a:t>
            </a:r>
            <a:endParaRPr/>
          </a:p>
        </p:txBody>
      </p:sp>
      <p:sp>
        <p:nvSpPr>
          <p:cNvPr id="89" name="Google Shape;89;p17"/>
          <p:cNvSpPr txBox="1"/>
          <p:nvPr>
            <p:ph idx="1" type="body"/>
          </p:nvPr>
        </p:nvSpPr>
        <p:spPr>
          <a:xfrm>
            <a:off x="506650" y="924275"/>
            <a:ext cx="84444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chemeClr val="lt1"/>
                </a:solidFill>
              </a:rPr>
              <a:t>Before modeling, the data needed some cleaning:</a:t>
            </a:r>
            <a:endParaRPr>
              <a:solidFill>
                <a:schemeClr val="lt1"/>
              </a:solidFill>
            </a:endParaRPr>
          </a:p>
          <a:p>
            <a:pPr indent="-298450" lvl="0" marL="457200" rtl="0" algn="l">
              <a:lnSpc>
                <a:spcPct val="150000"/>
              </a:lnSpc>
              <a:spcBef>
                <a:spcPts val="1200"/>
              </a:spcBef>
              <a:spcAft>
                <a:spcPts val="0"/>
              </a:spcAft>
              <a:buClr>
                <a:schemeClr val="lt1"/>
              </a:buClr>
              <a:buSzPts val="1100"/>
              <a:buFont typeface="Arial"/>
              <a:buChar char="●"/>
            </a:pPr>
            <a:r>
              <a:rPr lang="en">
                <a:solidFill>
                  <a:schemeClr val="lt1"/>
                </a:solidFill>
              </a:rPr>
              <a:t>Churn was converted from Yes/No to 1/0</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TotalCharges was converted to numeric, with a small number of missing values filled in as 0 for new customers</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customerID was dropped since it’s just an identifier</a:t>
            </a:r>
            <a:endParaRPr>
              <a:solidFill>
                <a:schemeClr val="lt1"/>
              </a:solidFill>
            </a:endParaRPr>
          </a:p>
          <a:p>
            <a:pPr indent="-298450" lvl="0" marL="457200" rtl="0" algn="l">
              <a:lnSpc>
                <a:spcPct val="150000"/>
              </a:lnSpc>
              <a:spcBef>
                <a:spcPts val="0"/>
              </a:spcBef>
              <a:spcAft>
                <a:spcPts val="0"/>
              </a:spcAft>
              <a:buClr>
                <a:schemeClr val="lt1"/>
              </a:buClr>
              <a:buSzPts val="1100"/>
              <a:buFont typeface="Arial"/>
              <a:buChar char="●"/>
            </a:pPr>
            <a:r>
              <a:rPr lang="en">
                <a:solidFill>
                  <a:schemeClr val="lt1"/>
                </a:solidFill>
              </a:rPr>
              <a:t>A few extra features were created, like tenure buckets and a high monthly charges indicator</a:t>
            </a:r>
            <a:endParaRPr>
              <a:solidFill>
                <a:schemeClr val="lt1"/>
              </a:solidFill>
            </a:endParaRPr>
          </a:p>
          <a:p>
            <a:pPr indent="0" lvl="0" marL="0" rtl="0" algn="l">
              <a:lnSpc>
                <a:spcPct val="150000"/>
              </a:lnSpc>
              <a:spcBef>
                <a:spcPts val="1200"/>
              </a:spcBef>
              <a:spcAft>
                <a:spcPts val="0"/>
              </a:spcAft>
              <a:buNone/>
            </a:pPr>
            <a:r>
              <a:rPr lang="en">
                <a:solidFill>
                  <a:schemeClr val="lt1"/>
                </a:solidFill>
              </a:rPr>
              <a:t>After this, the dataset had 22 usable features.</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260750"/>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Data Showed</a:t>
            </a:r>
            <a:endParaRPr/>
          </a:p>
        </p:txBody>
      </p:sp>
      <p:sp>
        <p:nvSpPr>
          <p:cNvPr id="95" name="Google Shape;95;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1200"/>
              </a:spcBef>
              <a:spcAft>
                <a:spcPts val="0"/>
              </a:spcAft>
              <a:buNone/>
            </a:pPr>
            <a:r>
              <a:rPr lang="en">
                <a:solidFill>
                  <a:schemeClr val="dk1"/>
                </a:solidFill>
              </a:rPr>
              <a:t>Some churn patterns stood out pretty clearly:</a:t>
            </a:r>
            <a:endParaRPr>
              <a:solidFill>
                <a:schemeClr val="dk1"/>
              </a:solidFill>
            </a:endParaRPr>
          </a:p>
          <a:p>
            <a:pPr indent="-298450" lvl="0" marL="457200" rtl="0" algn="l">
              <a:lnSpc>
                <a:spcPct val="150000"/>
              </a:lnSpc>
              <a:spcBef>
                <a:spcPts val="1200"/>
              </a:spcBef>
              <a:spcAft>
                <a:spcPts val="0"/>
              </a:spcAft>
              <a:buClr>
                <a:schemeClr val="dk1"/>
              </a:buClr>
              <a:buSzPts val="1100"/>
              <a:buFont typeface="Arial"/>
              <a:buChar char="●"/>
            </a:pPr>
            <a:r>
              <a:rPr lang="en">
                <a:solidFill>
                  <a:schemeClr val="dk1"/>
                </a:solidFill>
              </a:rPr>
              <a:t>Month-to-month customers churn way more than long-term contract customers</a:t>
            </a:r>
            <a:endParaRPr>
              <a:solidFill>
                <a:schemeClr val="dk1"/>
              </a:solidFill>
            </a:endParaRPr>
          </a:p>
          <a:p>
            <a:pPr indent="-298450" lvl="0" marL="457200" rtl="0" algn="l">
              <a:lnSpc>
                <a:spcPct val="150000"/>
              </a:lnSpc>
              <a:spcBef>
                <a:spcPts val="0"/>
              </a:spcBef>
              <a:spcAft>
                <a:spcPts val="0"/>
              </a:spcAft>
              <a:buClr>
                <a:schemeClr val="dk1"/>
              </a:buClr>
              <a:buSzPts val="1100"/>
              <a:buFont typeface="Arial"/>
              <a:buChar char="●"/>
            </a:pPr>
            <a:r>
              <a:rPr lang="en">
                <a:solidFill>
                  <a:schemeClr val="dk1"/>
                </a:solidFill>
              </a:rPr>
              <a:t>Fiber optic users churn more than DSL or no-internet customers</a:t>
            </a:r>
            <a:endParaRPr>
              <a:solidFill>
                <a:schemeClr val="dk1"/>
              </a:solidFill>
            </a:endParaRPr>
          </a:p>
          <a:p>
            <a:pPr indent="-298450" lvl="0" marL="457200" rtl="0" algn="l">
              <a:lnSpc>
                <a:spcPct val="150000"/>
              </a:lnSpc>
              <a:spcBef>
                <a:spcPts val="0"/>
              </a:spcBef>
              <a:spcAft>
                <a:spcPts val="0"/>
              </a:spcAft>
              <a:buClr>
                <a:schemeClr val="dk1"/>
              </a:buClr>
              <a:buSzPts val="1100"/>
              <a:buFont typeface="Arial"/>
              <a:buChar char="●"/>
            </a:pPr>
            <a:r>
              <a:rPr lang="en">
                <a:solidFill>
                  <a:schemeClr val="dk1"/>
                </a:solidFill>
              </a:rPr>
              <a:t>Customers paying with electronic checks churn the most</a:t>
            </a:r>
            <a:endParaRPr>
              <a:solidFill>
                <a:schemeClr val="dk1"/>
              </a:solidFill>
            </a:endParaRPr>
          </a:p>
          <a:p>
            <a:pPr indent="-298450" lvl="0" marL="457200" rtl="0" algn="l">
              <a:lnSpc>
                <a:spcPct val="150000"/>
              </a:lnSpc>
              <a:spcBef>
                <a:spcPts val="0"/>
              </a:spcBef>
              <a:spcAft>
                <a:spcPts val="0"/>
              </a:spcAft>
              <a:buClr>
                <a:schemeClr val="dk1"/>
              </a:buClr>
              <a:buSzPts val="1100"/>
              <a:buFont typeface="Arial"/>
              <a:buChar char="●"/>
            </a:pPr>
            <a:r>
              <a:rPr lang="en">
                <a:solidFill>
                  <a:schemeClr val="dk1"/>
                </a:solidFill>
              </a:rPr>
              <a:t>Customers without support or security add-ons are more likely to leave</a:t>
            </a:r>
            <a:endParaRPr>
              <a:solidFill>
                <a:schemeClr val="dk1"/>
              </a:solidFill>
            </a:endParaRPr>
          </a:p>
          <a:p>
            <a:pPr indent="0" lvl="0" marL="0" rtl="0" algn="l">
              <a:lnSpc>
                <a:spcPct val="150000"/>
              </a:lnSpc>
              <a:spcBef>
                <a:spcPts val="1200"/>
              </a:spcBef>
              <a:spcAft>
                <a:spcPts val="0"/>
              </a:spcAft>
              <a:buNone/>
            </a:pPr>
            <a:r>
              <a:rPr lang="en">
                <a:solidFill>
                  <a:schemeClr val="dk1"/>
                </a:solidFill>
              </a:rPr>
              <a:t>These trends showed up both in the EDA and later in the model results.</a:t>
            </a:r>
            <a:endParaRPr>
              <a:solidFill>
                <a:schemeClr val="dk1"/>
              </a:solidFill>
            </a:endParaRPr>
          </a:p>
          <a:p>
            <a:pPr indent="0" lvl="0" marL="0" rtl="0" algn="l">
              <a:spcBef>
                <a:spcPts val="1200"/>
              </a:spcBef>
              <a:spcAft>
                <a:spcPts val="1200"/>
              </a:spcAft>
              <a:buNone/>
            </a:pPr>
            <a:r>
              <a:t/>
            </a:r>
            <a:endParaRPr/>
          </a:p>
        </p:txBody>
      </p:sp>
      <p:pic>
        <p:nvPicPr>
          <p:cNvPr id="96" name="Google Shape;96;p18" title="Screenshot 2025-12-15 at 10.29.45 PM.png"/>
          <p:cNvPicPr preferRelativeResize="0"/>
          <p:nvPr/>
        </p:nvPicPr>
        <p:blipFill>
          <a:blip r:embed="rId3">
            <a:alphaModFix/>
          </a:blip>
          <a:stretch>
            <a:fillRect/>
          </a:stretch>
        </p:blipFill>
        <p:spPr>
          <a:xfrm>
            <a:off x="433550" y="892400"/>
            <a:ext cx="3462850" cy="41983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We Modeled It</a:t>
            </a:r>
            <a:endParaRPr/>
          </a:p>
        </p:txBody>
      </p:sp>
      <p:sp>
        <p:nvSpPr>
          <p:cNvPr id="102" name="Google Shape;102;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20000"/>
          </a:bodyPr>
          <a:lstStyle/>
          <a:p>
            <a:pPr indent="0" lvl="0" marL="0" rtl="0" algn="l">
              <a:lnSpc>
                <a:spcPct val="150000"/>
              </a:lnSpc>
              <a:spcBef>
                <a:spcPts val="1200"/>
              </a:spcBef>
              <a:spcAft>
                <a:spcPts val="0"/>
              </a:spcAft>
              <a:buNone/>
            </a:pPr>
            <a:r>
              <a:rPr lang="en">
                <a:solidFill>
                  <a:schemeClr val="dk1"/>
                </a:solidFill>
              </a:rPr>
              <a:t>The data was split into training and test sets using an 80/20 split.</a:t>
            </a:r>
            <a:endParaRPr>
              <a:solidFill>
                <a:schemeClr val="dk1"/>
              </a:solidFill>
            </a:endParaRPr>
          </a:p>
          <a:p>
            <a:pPr indent="0" lvl="0" marL="0" rtl="0" algn="l">
              <a:lnSpc>
                <a:spcPct val="150000"/>
              </a:lnSpc>
              <a:spcBef>
                <a:spcPts val="1200"/>
              </a:spcBef>
              <a:spcAft>
                <a:spcPts val="0"/>
              </a:spcAft>
              <a:buNone/>
            </a:pPr>
            <a:r>
              <a:rPr lang="en">
                <a:solidFill>
                  <a:schemeClr val="dk1"/>
                </a:solidFill>
              </a:rPr>
              <a:t>We used a preprocessing pipeline to handle missing values, scale numeric features, and encode categorical variables.</a:t>
            </a:r>
            <a:endParaRPr>
              <a:solidFill>
                <a:schemeClr val="dk1"/>
              </a:solidFill>
            </a:endParaRPr>
          </a:p>
          <a:p>
            <a:pPr indent="0" lvl="0" marL="0" rtl="0" algn="l">
              <a:lnSpc>
                <a:spcPct val="150000"/>
              </a:lnSpc>
              <a:spcBef>
                <a:spcPts val="1200"/>
              </a:spcBef>
              <a:spcAft>
                <a:spcPts val="0"/>
              </a:spcAft>
              <a:buNone/>
            </a:pPr>
            <a:r>
              <a:rPr lang="en">
                <a:solidFill>
                  <a:schemeClr val="dk1"/>
                </a:solidFill>
              </a:rPr>
              <a:t>The models we tested were:</a:t>
            </a:r>
            <a:endParaRPr>
              <a:solidFill>
                <a:schemeClr val="dk1"/>
              </a:solidFill>
            </a:endParaRPr>
          </a:p>
          <a:p>
            <a:pPr indent="-298450" lvl="0" marL="457200" rtl="0" algn="l">
              <a:lnSpc>
                <a:spcPct val="150000"/>
              </a:lnSpc>
              <a:spcBef>
                <a:spcPts val="1200"/>
              </a:spcBef>
              <a:spcAft>
                <a:spcPts val="0"/>
              </a:spcAft>
              <a:buClr>
                <a:schemeClr val="dk1"/>
              </a:buClr>
              <a:buSzPts val="1100"/>
              <a:buFont typeface="Arial"/>
              <a:buChar char="●"/>
            </a:pPr>
            <a:r>
              <a:rPr lang="en">
                <a:solidFill>
                  <a:schemeClr val="dk1"/>
                </a:solidFill>
              </a:rPr>
              <a:t>A Dummy Classifier as a baseline</a:t>
            </a:r>
            <a:endParaRPr>
              <a:solidFill>
                <a:schemeClr val="dk1"/>
              </a:solidFill>
            </a:endParaRPr>
          </a:p>
          <a:p>
            <a:pPr indent="-298450" lvl="0" marL="457200" rtl="0" algn="l">
              <a:lnSpc>
                <a:spcPct val="150000"/>
              </a:lnSpc>
              <a:spcBef>
                <a:spcPts val="0"/>
              </a:spcBef>
              <a:spcAft>
                <a:spcPts val="0"/>
              </a:spcAft>
              <a:buClr>
                <a:schemeClr val="dk1"/>
              </a:buClr>
              <a:buSzPts val="1100"/>
              <a:buFont typeface="Arial"/>
              <a:buChar char="●"/>
            </a:pPr>
            <a:r>
              <a:rPr lang="en">
                <a:solidFill>
                  <a:schemeClr val="dk1"/>
                </a:solidFill>
              </a:rPr>
              <a:t>Logistic Regression</a:t>
            </a:r>
            <a:endParaRPr>
              <a:solidFill>
                <a:schemeClr val="dk1"/>
              </a:solidFill>
            </a:endParaRPr>
          </a:p>
          <a:p>
            <a:pPr indent="-298450" lvl="0" marL="457200" rtl="0" algn="l">
              <a:lnSpc>
                <a:spcPct val="150000"/>
              </a:lnSpc>
              <a:spcBef>
                <a:spcPts val="0"/>
              </a:spcBef>
              <a:spcAft>
                <a:spcPts val="0"/>
              </a:spcAft>
              <a:buClr>
                <a:schemeClr val="dk1"/>
              </a:buClr>
              <a:buSzPts val="1100"/>
              <a:buFont typeface="Arial"/>
              <a:buChar char="●"/>
            </a:pPr>
            <a:r>
              <a:rPr lang="en">
                <a:solidFill>
                  <a:schemeClr val="dk1"/>
                </a:solidFill>
              </a:rPr>
              <a:t>K-Nearest Neighbors</a:t>
            </a:r>
            <a:endParaRPr>
              <a:solidFill>
                <a:schemeClr val="dk1"/>
              </a:solidFill>
            </a:endParaRPr>
          </a:p>
          <a:p>
            <a:pPr indent="0" lvl="0" marL="0" rtl="0" algn="l">
              <a:lnSpc>
                <a:spcPct val="150000"/>
              </a:lnSpc>
              <a:spcBef>
                <a:spcPts val="1200"/>
              </a:spcBef>
              <a:spcAft>
                <a:spcPts val="0"/>
              </a:spcAft>
              <a:buNone/>
            </a:pPr>
            <a:r>
              <a:rPr lang="en">
                <a:solidFill>
                  <a:schemeClr val="dk1"/>
                </a:solidFill>
              </a:rPr>
              <a:t>We mainly compared models using ROC-AUC instead of accuracy.</a:t>
            </a:r>
            <a:endParaRPr>
              <a:solidFill>
                <a:schemeClr val="dk1"/>
              </a:solidFill>
            </a:endParaRPr>
          </a:p>
          <a:p>
            <a:pPr indent="0" lvl="0" marL="0" rtl="0" algn="l">
              <a:spcBef>
                <a:spcPts val="1200"/>
              </a:spcBef>
              <a:spcAft>
                <a:spcPts val="1200"/>
              </a:spcAft>
              <a:buNone/>
            </a:pPr>
            <a:r>
              <a:t/>
            </a:r>
            <a:endParaRPr/>
          </a:p>
        </p:txBody>
      </p:sp>
      <p:pic>
        <p:nvPicPr>
          <p:cNvPr id="103" name="Google Shape;103;p19" title="Screenshot 2025-12-15 at 10.30.00 PM.png"/>
          <p:cNvPicPr preferRelativeResize="0"/>
          <p:nvPr/>
        </p:nvPicPr>
        <p:blipFill>
          <a:blip r:embed="rId3">
            <a:alphaModFix/>
          </a:blip>
          <a:stretch>
            <a:fillRect/>
          </a:stretch>
        </p:blipFill>
        <p:spPr>
          <a:xfrm>
            <a:off x="389150" y="1231950"/>
            <a:ext cx="3542426" cy="361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Best Model and Threshold</a:t>
            </a:r>
            <a:endParaRPr/>
          </a:p>
        </p:txBody>
      </p:sp>
      <p:sp>
        <p:nvSpPr>
          <p:cNvPr id="109" name="Google Shape;109;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rgbClr val="000000"/>
                </a:solidFill>
              </a:rPr>
              <a:t>Logistic Regression ended up working best, with a test ROC-AUC of about 0.84.</a:t>
            </a:r>
            <a:endParaRPr>
              <a:solidFill>
                <a:srgbClr val="000000"/>
              </a:solidFill>
            </a:endParaRPr>
          </a:p>
          <a:p>
            <a:pPr indent="0" lvl="0" marL="0" rtl="0" algn="l">
              <a:lnSpc>
                <a:spcPct val="150000"/>
              </a:lnSpc>
              <a:spcBef>
                <a:spcPts val="1200"/>
              </a:spcBef>
              <a:spcAft>
                <a:spcPts val="0"/>
              </a:spcAft>
              <a:buNone/>
            </a:pPr>
            <a:r>
              <a:rPr lang="en">
                <a:solidFill>
                  <a:srgbClr val="000000"/>
                </a:solidFill>
              </a:rPr>
              <a:t>We also didn’t stick with the default 0.50 threshold. Instead, we tested several thresholds and chose 0.35, since it gave the best balance between catching churners and not flagging too many customers.</a:t>
            </a:r>
            <a:endParaRPr>
              <a:solidFill>
                <a:srgbClr val="000000"/>
              </a:solidFill>
            </a:endParaRPr>
          </a:p>
          <a:p>
            <a:pPr indent="0" lvl="0" marL="0" rtl="0" algn="l">
              <a:spcBef>
                <a:spcPts val="1200"/>
              </a:spcBef>
              <a:spcAft>
                <a:spcPts val="1200"/>
              </a:spcAft>
              <a:buNone/>
            </a:pPr>
            <a:r>
              <a:t/>
            </a:r>
            <a:endParaRPr/>
          </a:p>
        </p:txBody>
      </p:sp>
      <p:pic>
        <p:nvPicPr>
          <p:cNvPr id="110" name="Google Shape;110;p20" title="Screenshot 2025-12-15 at 10.30.14 PM.png"/>
          <p:cNvPicPr preferRelativeResize="0"/>
          <p:nvPr/>
        </p:nvPicPr>
        <p:blipFill>
          <a:blip r:embed="rId3">
            <a:alphaModFix/>
          </a:blip>
          <a:stretch>
            <a:fillRect/>
          </a:stretch>
        </p:blipFill>
        <p:spPr>
          <a:xfrm>
            <a:off x="81775" y="1659732"/>
            <a:ext cx="4166399" cy="28700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4" name="Shape 114"/>
        <p:cNvGrpSpPr/>
        <p:nvPr/>
      </p:nvGrpSpPr>
      <p:grpSpPr>
        <a:xfrm>
          <a:off x="0" y="0"/>
          <a:ext cx="0" cy="0"/>
          <a:chOff x="0" y="0"/>
          <a:chExt cx="0" cy="0"/>
        </a:xfrm>
      </p:grpSpPr>
      <p:sp>
        <p:nvSpPr>
          <p:cNvPr id="115" name="Google Shape;115;p21"/>
          <p:cNvSpPr txBox="1"/>
          <p:nvPr>
            <p:ph type="title"/>
          </p:nvPr>
        </p:nvSpPr>
        <p:spPr>
          <a:xfrm>
            <a:off x="154375" y="295850"/>
            <a:ext cx="6009900" cy="237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The Results Mean</a:t>
            </a:r>
            <a:endParaRPr/>
          </a:p>
        </p:txBody>
      </p:sp>
      <p:sp>
        <p:nvSpPr>
          <p:cNvPr id="116" name="Google Shape;116;p21"/>
          <p:cNvSpPr txBox="1"/>
          <p:nvPr>
            <p:ph idx="1" type="body"/>
          </p:nvPr>
        </p:nvSpPr>
        <p:spPr>
          <a:xfrm>
            <a:off x="1339050" y="1309150"/>
            <a:ext cx="75927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chemeClr val="lt1"/>
                </a:solidFill>
              </a:rPr>
              <a:t>At the 0.35 threshold:</a:t>
            </a:r>
            <a:endParaRPr>
              <a:solidFill>
                <a:schemeClr val="lt1"/>
              </a:solidFill>
            </a:endParaRPr>
          </a:p>
          <a:p>
            <a:pPr indent="-311150" lvl="0" marL="457200" rtl="0" algn="l">
              <a:lnSpc>
                <a:spcPct val="150000"/>
              </a:lnSpc>
              <a:spcBef>
                <a:spcPts val="1200"/>
              </a:spcBef>
              <a:spcAft>
                <a:spcPts val="0"/>
              </a:spcAft>
              <a:buClr>
                <a:schemeClr val="lt1"/>
              </a:buClr>
              <a:buSzPts val="1300"/>
              <a:buFont typeface="Arial"/>
              <a:buChar char="●"/>
            </a:pPr>
            <a:r>
              <a:rPr lang="en">
                <a:solidFill>
                  <a:schemeClr val="lt1"/>
                </a:solidFill>
              </a:rPr>
              <a:t>The model catches about 72% of customers who actually churn</a:t>
            </a:r>
            <a:endParaRPr>
              <a:solidFill>
                <a:schemeClr val="lt1"/>
              </a:solidFill>
            </a:endParaRPr>
          </a:p>
          <a:p>
            <a:pPr indent="-311150" lvl="0" marL="457200" rtl="0" algn="l">
              <a:lnSpc>
                <a:spcPct val="150000"/>
              </a:lnSpc>
              <a:spcBef>
                <a:spcPts val="0"/>
              </a:spcBef>
              <a:spcAft>
                <a:spcPts val="0"/>
              </a:spcAft>
              <a:buClr>
                <a:schemeClr val="lt1"/>
              </a:buClr>
              <a:buSzPts val="1300"/>
              <a:buFont typeface="Arial"/>
              <a:buChar char="●"/>
            </a:pPr>
            <a:r>
              <a:rPr lang="en">
                <a:solidFill>
                  <a:schemeClr val="lt1"/>
                </a:solidFill>
              </a:rPr>
              <a:t>Around 34% of customers are flagged as high risk</a:t>
            </a:r>
            <a:endParaRPr>
              <a:solidFill>
                <a:schemeClr val="lt1"/>
              </a:solidFill>
            </a:endParaRPr>
          </a:p>
          <a:p>
            <a:pPr indent="0" lvl="0" marL="0" rtl="0" algn="l">
              <a:lnSpc>
                <a:spcPct val="150000"/>
              </a:lnSpc>
              <a:spcBef>
                <a:spcPts val="1200"/>
              </a:spcBef>
              <a:spcAft>
                <a:spcPts val="0"/>
              </a:spcAft>
              <a:buNone/>
            </a:pPr>
            <a:r>
              <a:rPr lang="en">
                <a:solidFill>
                  <a:schemeClr val="lt1"/>
                </a:solidFill>
              </a:rPr>
              <a:t>From a business standpoint, this makes sense if the company can handle outreach to about one-third of its customers and wants to catch most churners early.</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0" name="Shape 120"/>
        <p:cNvGrpSpPr/>
        <p:nvPr/>
      </p:nvGrpSpPr>
      <p:grpSpPr>
        <a:xfrm>
          <a:off x="0" y="0"/>
          <a:ext cx="0" cy="0"/>
          <a:chOff x="0" y="0"/>
          <a:chExt cx="0" cy="0"/>
        </a:xfrm>
      </p:grpSpPr>
      <p:sp>
        <p:nvSpPr>
          <p:cNvPr id="121" name="Google Shape;121;p22"/>
          <p:cNvSpPr txBox="1"/>
          <p:nvPr>
            <p:ph type="title"/>
          </p:nvPr>
        </p:nvSpPr>
        <p:spPr>
          <a:xfrm>
            <a:off x="335850" y="259650"/>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22" name="Google Shape;122;p22"/>
          <p:cNvSpPr txBox="1"/>
          <p:nvPr>
            <p:ph idx="1" type="body"/>
          </p:nvPr>
        </p:nvSpPr>
        <p:spPr>
          <a:xfrm>
            <a:off x="244800" y="1044900"/>
            <a:ext cx="8654400" cy="40986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chemeClr val="lt1"/>
                </a:solidFill>
              </a:rPr>
              <a:t>Overall, this project shows how churn prediction can be approached in a practical way, not just by maximizing accuracy.</a:t>
            </a:r>
            <a:endParaRPr>
              <a:solidFill>
                <a:schemeClr val="lt1"/>
              </a:solidFill>
            </a:endParaRPr>
          </a:p>
          <a:p>
            <a:pPr indent="0" lvl="0" marL="0" rtl="0" algn="l">
              <a:lnSpc>
                <a:spcPct val="150000"/>
              </a:lnSpc>
              <a:spcBef>
                <a:spcPts val="1200"/>
              </a:spcBef>
              <a:spcAft>
                <a:spcPts val="0"/>
              </a:spcAft>
              <a:buNone/>
            </a:pPr>
            <a:r>
              <a:rPr lang="en">
                <a:solidFill>
                  <a:schemeClr val="lt1"/>
                </a:solidFill>
              </a:rPr>
              <a:t>Logistic Regression gave strong performance and was easy to interpret, and using probabilities and threshold tuning made the results much more realistic for real-world use.</a:t>
            </a:r>
            <a:endParaRPr>
              <a:solidFill>
                <a:schemeClr val="lt1"/>
              </a:solidFill>
            </a:endParaRPr>
          </a:p>
          <a:p>
            <a:pPr indent="0" lvl="0" marL="0" rtl="0" algn="l">
              <a:lnSpc>
                <a:spcPct val="150000"/>
              </a:lnSpc>
              <a:spcBef>
                <a:spcPts val="1200"/>
              </a:spcBef>
              <a:spcAft>
                <a:spcPts val="0"/>
              </a:spcAft>
              <a:buNone/>
            </a:pPr>
            <a:r>
              <a:rPr lang="en">
                <a:solidFill>
                  <a:schemeClr val="lt1"/>
                </a:solidFill>
              </a:rPr>
              <a:t>If we were to continue this project, we’d look at cost-based thresholds, probability calibration, and customer segmentation.</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238325" y="500925"/>
            <a:ext cx="3866700" cy="26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source &amp;</a:t>
            </a:r>
            <a:endParaRPr/>
          </a:p>
          <a:p>
            <a:pPr indent="0" lvl="0" marL="0" rtl="0" algn="l">
              <a:spcBef>
                <a:spcPts val="0"/>
              </a:spcBef>
              <a:spcAft>
                <a:spcPts val="0"/>
              </a:spcAft>
              <a:buNone/>
            </a:pPr>
            <a:r>
              <a:rPr lang="en"/>
              <a:t>key fields</a:t>
            </a:r>
            <a:endParaRPr/>
          </a:p>
        </p:txBody>
      </p:sp>
      <p:sp>
        <p:nvSpPr>
          <p:cNvPr id="128" name="Google Shape;128;p23"/>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chemeClr val="dk1"/>
                </a:solidFill>
              </a:rPr>
              <a:t>Data source</a:t>
            </a:r>
            <a:endParaRPr b="1">
              <a:solidFill>
                <a:schemeClr val="dk1"/>
              </a:solidFill>
            </a:endParaRPr>
          </a:p>
          <a:p>
            <a:pPr indent="0" lvl="0" marL="0" rtl="0" algn="l">
              <a:spcBef>
                <a:spcPts val="1200"/>
              </a:spcBef>
              <a:spcAft>
                <a:spcPts val="0"/>
              </a:spcAft>
              <a:buNone/>
            </a:pPr>
            <a:r>
              <a:rPr lang="en">
                <a:solidFill>
                  <a:schemeClr val="dk1"/>
                </a:solidFill>
              </a:rPr>
              <a:t> IBM Cognos Analytics sample dataset: “Telco customer churn” (fictional telco churn data). </a:t>
            </a:r>
            <a:endParaRPr>
              <a:solidFill>
                <a:schemeClr val="dk1"/>
              </a:solidFill>
            </a:endParaRPr>
          </a:p>
          <a:p>
            <a:pPr indent="0" lvl="0" marL="0" rtl="0" algn="l">
              <a:spcBef>
                <a:spcPts val="1200"/>
              </a:spcBef>
              <a:spcAft>
                <a:spcPts val="0"/>
              </a:spcAft>
              <a:buNone/>
            </a:pPr>
            <a:r>
              <a:rPr lang="en">
                <a:solidFill>
                  <a:schemeClr val="dk1"/>
                </a:solidFill>
              </a:rPr>
              <a:t>• Public mirror commonly used in coursework: Kaggle dataset “Telco Customer Churn” (blastchar), file WA_</a:t>
            </a:r>
            <a:endParaRPr>
              <a:solidFill>
                <a:schemeClr val="dk1"/>
              </a:solidFill>
            </a:endParaRPr>
          </a:p>
          <a:p>
            <a:pPr indent="0" lvl="0" marL="0" rtl="0" algn="l">
              <a:spcBef>
                <a:spcPts val="1200"/>
              </a:spcBef>
              <a:spcAft>
                <a:spcPts val="0"/>
              </a:spcAft>
              <a:buNone/>
            </a:pPr>
            <a:r>
              <a:rPr lang="en">
                <a:solidFill>
                  <a:schemeClr val="dk1"/>
                </a:solidFill>
              </a:rPr>
              <a:t>• Accessed: Dec 15, 2025</a:t>
            </a:r>
            <a:endParaRPr>
              <a:solidFill>
                <a:schemeClr val="dk1"/>
              </a:solidFill>
            </a:endParaRPr>
          </a:p>
          <a:p>
            <a:pPr indent="0" lvl="0" marL="0" rtl="0" algn="l">
              <a:spcBef>
                <a:spcPts val="1200"/>
              </a:spcBef>
              <a:spcAft>
                <a:spcPts val="0"/>
              </a:spcAft>
              <a:buNone/>
            </a:pPr>
            <a:r>
              <a:rPr b="1" lang="en">
                <a:solidFill>
                  <a:schemeClr val="dk1"/>
                </a:solidFill>
              </a:rPr>
              <a:t>Key fields used in modeling</a:t>
            </a:r>
            <a:endParaRPr b="1">
              <a:solidFill>
                <a:schemeClr val="dk1"/>
              </a:solidFill>
            </a:endParaRPr>
          </a:p>
          <a:p>
            <a:pPr indent="0" lvl="0" marL="0" rtl="0" algn="l">
              <a:spcBef>
                <a:spcPts val="1200"/>
              </a:spcBef>
              <a:spcAft>
                <a:spcPts val="0"/>
              </a:spcAft>
              <a:buNone/>
            </a:pPr>
            <a:r>
              <a:rPr lang="en">
                <a:solidFill>
                  <a:schemeClr val="dk1"/>
                </a:solidFill>
              </a:rPr>
              <a:t>• Target: Churn (Yes/No). </a:t>
            </a:r>
            <a:endParaRPr>
              <a:solidFill>
                <a:schemeClr val="dk1"/>
              </a:solidFill>
            </a:endParaRPr>
          </a:p>
          <a:p>
            <a:pPr indent="0" lvl="0" marL="0" rtl="0" algn="l">
              <a:spcBef>
                <a:spcPts val="1200"/>
              </a:spcBef>
              <a:spcAft>
                <a:spcPts val="0"/>
              </a:spcAft>
              <a:buNone/>
            </a:pPr>
            <a:r>
              <a:rPr lang="en">
                <a:solidFill>
                  <a:schemeClr val="dk1"/>
                </a:solidFill>
              </a:rPr>
              <a:t>• Numeric: tenure, MonthlyCharges, TotalCharges (may need numeric conversion). </a:t>
            </a:r>
            <a:endParaRPr>
              <a:solidFill>
                <a:schemeClr val="dk1"/>
              </a:solidFill>
            </a:endParaRPr>
          </a:p>
          <a:p>
            <a:pPr indent="0" lvl="0" marL="0" rtl="0" algn="l">
              <a:spcBef>
                <a:spcPts val="1200"/>
              </a:spcBef>
              <a:spcAft>
                <a:spcPts val="0"/>
              </a:spcAft>
              <a:buNone/>
            </a:pPr>
            <a:r>
              <a:rPr lang="en">
                <a:solidFill>
                  <a:schemeClr val="dk1"/>
                </a:solidFill>
              </a:rPr>
              <a:t>• Contract/billing: Contract, PaperlessBilling, PaymentMethod. • Service features: InternetService + add-ons (OnlineSecurity, TechSupport, etc.). </a:t>
            </a:r>
            <a:endParaRPr>
              <a:solidFill>
                <a:schemeClr val="dk1"/>
              </a:solidFill>
            </a:endParaRPr>
          </a:p>
          <a:p>
            <a:pPr indent="0" lvl="0" marL="0" rtl="0" algn="l">
              <a:spcBef>
                <a:spcPts val="1200"/>
              </a:spcBef>
              <a:spcAft>
                <a:spcPts val="1200"/>
              </a:spcAft>
              <a:buNone/>
            </a:pPr>
            <a:r>
              <a:rPr lang="en">
                <a:solidFill>
                  <a:schemeClr val="dk1"/>
                </a:solidFill>
              </a:rPr>
              <a:t>• Customer attributes: SeniorCitizen, Partner, Dependents, gender.</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